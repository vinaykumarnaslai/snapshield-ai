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2631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77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SNAPSHIELD AI  |  Snapdragon AI Lab Build &amp; Present  | 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72F1C8"/>
                </a:solidFill>
              </a:rPr>
              <a:t>SNAPDRAGON AI LAB BUILD &amp; PRESENT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2F7"/>
                </a:solidFill>
              </a:rPr>
              <a:t>SnapShield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19385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9AA7B5"/>
                </a:solidFill>
              </a:rPr>
              <a:t>On-device privacy redaction for Snapdragon-powered Windows PCs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2834640"/>
            <a:ext cx="6217920" cy="1115568"/>
          </a:xfrm>
          <a:prstGeom prst="roundRect">
            <a:avLst>
              <a:gd name="adj" fmla="val 6557"/>
            </a:avLst>
          </a:prstGeom>
          <a:solidFill>
            <a:srgbClr val="0E171D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09067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DF2F7"/>
                </a:solidFill>
              </a:rPr>
              <a:t>Protect sensitive visuals before they leave the device.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493008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F1C8"/>
                </a:solidFill>
              </a:rPr>
              <a:t>Detect locally  -&gt;  redact  -&gt;  inspect  -&gt;  export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0" y="1051560"/>
            <a:ext cx="2971800" cy="4343400"/>
          </a:xfrm>
          <a:prstGeom prst="roundRect">
            <a:avLst>
              <a:gd name="adj" fmla="val 2769"/>
            </a:avLst>
          </a:prstGeom>
          <a:solidFill>
            <a:srgbClr val="0F151B"/>
          </a:solidFill>
          <a:ln w="15240">
            <a:solidFill>
              <a:srgbClr val="3443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85632" y="1389888"/>
            <a:ext cx="2468880" cy="3566160"/>
          </a:xfrm>
          <a:prstGeom prst="roundRect">
            <a:avLst>
              <a:gd name="adj" fmla="val 1481"/>
            </a:avLst>
          </a:prstGeom>
          <a:solidFill>
            <a:srgbClr val="111A22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1847088"/>
            <a:ext cx="1783080" cy="310896"/>
          </a:xfrm>
          <a:prstGeom prst="roundRect">
            <a:avLst>
              <a:gd name="adj" fmla="val 8824"/>
            </a:avLst>
          </a:prstGeom>
          <a:solidFill>
            <a:srgbClr val="72F1C8"/>
          </a:solidFill>
          <a:ln w="6350">
            <a:solidFill>
              <a:srgbClr val="72F1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23960" y="2441448"/>
            <a:ext cx="1783080" cy="310896"/>
          </a:xfrm>
          <a:prstGeom prst="roundRect">
            <a:avLst>
              <a:gd name="adj" fmla="val 8824"/>
            </a:avLst>
          </a:prstGeom>
          <a:solidFill>
            <a:srgbClr val="1B2630"/>
          </a:solidFill>
          <a:ln w="6350">
            <a:solidFill>
              <a:srgbClr val="2631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3035808"/>
            <a:ext cx="1783080" cy="310896"/>
          </a:xfrm>
          <a:prstGeom prst="roundRect">
            <a:avLst>
              <a:gd name="adj" fmla="val 8824"/>
            </a:avLst>
          </a:prstGeom>
          <a:solidFill>
            <a:srgbClr val="1B2630"/>
          </a:solidFill>
          <a:ln w="6350">
            <a:solidFill>
              <a:srgbClr val="2631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3630168"/>
            <a:ext cx="1783080" cy="310896"/>
          </a:xfrm>
          <a:prstGeom prst="roundRect">
            <a:avLst>
              <a:gd name="adj" fmla="val 8824"/>
            </a:avLst>
          </a:prstGeom>
          <a:solidFill>
            <a:srgbClr val="1B2630"/>
          </a:solidFill>
          <a:ln w="6350">
            <a:solidFill>
              <a:srgbClr val="2631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43891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2F1C8"/>
                </a:solidFill>
              </a:rPr>
              <a:t>QNN / HTP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0" y="4663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5"/>
                </a:solidFill>
              </a:rPr>
              <a:t>NPU path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F2F7"/>
                </a:solidFill>
              </a:rPr>
              <a:t>Vinay Kumar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72F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DF2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Sensitive pixels are shared too easily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need a quick privacy layer before an image is uploaded, emailed, or posted.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92240" cy="3566160"/>
          </a:xfrm>
          <a:prstGeom prst="roundRect">
            <a:avLst>
              <a:gd name="adj" fmla="val 2051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5943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DF2F7"/>
                </a:solidFill>
              </a:rPr>
              <a:t>Screenshots and photos can expose faces and other personal visual information.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DF2F7"/>
                </a:solidFill>
              </a:rPr>
              <a:t>Cloud processing introduces an external dependency for a task that can be performed locally.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DF2F7"/>
                </a:solidFill>
              </a:rPr>
              <a:t>Manual blur/redaction is slow and easy to miss on repeated workflows.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DF2F7"/>
                </a:solidFill>
              </a:rPr>
              <a:t>The product should make privacy protection simple enough to use before every share.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60920" y="187452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07224" y="20391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DF2F7"/>
                </a:solidFill>
              </a:rPr>
              <a:t>LOCAL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507224" y="24323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AA7B5"/>
                </a:solidFill>
              </a:rPr>
              <a:t>source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869680" y="187452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15984" y="20391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DF2F7"/>
                </a:solidFill>
              </a:rPr>
              <a:t>FAST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015984" y="24323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AA7B5"/>
                </a:solidFill>
              </a:rPr>
              <a:t>workflow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378440" y="187452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24744" y="20391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DF2F7"/>
                </a:solidFill>
              </a:rPr>
              <a:t>CLEAR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524744" y="24323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AA7B5"/>
                </a:solidFill>
              </a:rPr>
              <a:t>feedback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88352" y="31272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F1C8"/>
                </a:solidFill>
              </a:rPr>
              <a:t>Design goal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88352" y="34747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DF2F7"/>
                </a:solidFill>
              </a:rPr>
              <a:t>Make privacy redaction a one-click local operation with visible evidence of what happened.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72F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DF2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SnapShield turns privacy into a local pipeline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interface handles detection, redaction, inspection, and export.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F1C8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81635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2F7"/>
                </a:solidFill>
              </a:rPr>
              <a:t>UPLOAD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2004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</a:rPr>
              <a:t>Choose an image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60904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2F1C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F1C8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53512" y="281635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2F7"/>
                </a:solidFill>
              </a:rPr>
              <a:t>DETECT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53512" y="32004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</a:rPr>
              <a:t>Faces + selected objects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01184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2F1C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0" y="21031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F1C8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93792" y="281635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2F7"/>
                </a:solidFill>
              </a:rPr>
              <a:t>REDACT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93792" y="32004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</a:rPr>
              <a:t>Blur sensitive regions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41464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2F1C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69480" y="21031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072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F1C8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34072" y="281635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2F7"/>
                </a:solidFill>
              </a:rPr>
              <a:t>VERIFY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34072" y="32004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</a:rPr>
              <a:t>Side-by-side preview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81744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2F1C8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09760" y="21031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74352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2F1C8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74352" y="281635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2F7"/>
                </a:solidFill>
              </a:rPr>
              <a:t>EXPORT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74352" y="32004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</a:rPr>
              <a:t>Download safe copy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17320" y="4572000"/>
            <a:ext cx="9144000" cy="868680"/>
          </a:xfrm>
          <a:prstGeom prst="roundRect">
            <a:avLst>
              <a:gd name="adj" fmla="val 8421"/>
            </a:avLst>
          </a:prstGeom>
          <a:solidFill>
            <a:srgbClr val="0E171D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0" y="4828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F1C8"/>
                </a:solidFill>
              </a:rPr>
              <a:t>Privacy policies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27248" y="4773168"/>
            <a:ext cx="699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DF2F7"/>
                </a:solidFill>
              </a:rPr>
              <a:t>People + faces    •    People + devices    •    Maximum privacy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72F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DF2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app, two execution paths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Snapdragon hardware gets a first-class QNN/HTP path while the product stays portable during development.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1945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2F7"/>
                </a:solidFill>
              </a:rPr>
              <a:t>Browser 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5328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7B5"/>
                </a:solidFill>
              </a:rPr>
              <a:t>Upload / policy / export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71800" y="20116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18104" y="21945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2F7"/>
                </a:solidFill>
              </a:rPr>
              <a:t>Flask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18104" y="25328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7B5"/>
                </a:solidFill>
              </a:rPr>
              <a:t>Local orchestration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03520" y="20116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9824" y="21945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2F7"/>
                </a:solidFill>
              </a:rPr>
              <a:t>ONNX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9824" y="25328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7B5"/>
                </a:solidFill>
              </a:rPr>
              <a:t>YOLOv5n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635240" y="1572768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0D1D18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81544" y="17556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2F1C8"/>
                </a:solidFill>
              </a:rPr>
              <a:t>QNN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81544" y="20939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7B5"/>
                </a:solidFill>
              </a:rPr>
              <a:t>HTP / NPU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646920" y="2450592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93224" y="26334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2F7"/>
                </a:solidFill>
              </a:rPr>
              <a:t>CPU EP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93224" y="2971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7B5"/>
                </a:solidFill>
              </a:rPr>
              <a:t>Fallback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06040" y="23317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2F1C8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7760" y="23317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2F1C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69480" y="2514600"/>
            <a:ext cx="338328" cy="-338328"/>
          </a:xfrm>
          <a:prstGeom prst="line">
            <a:avLst/>
          </a:prstGeom>
          <a:noFill/>
          <a:ln w="19050">
            <a:solidFill>
              <a:srgbClr val="72F1C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69480" y="2514600"/>
            <a:ext cx="2258568" cy="411480"/>
          </a:xfrm>
          <a:prstGeom prst="line">
            <a:avLst/>
          </a:prstGeom>
          <a:noFill/>
          <a:ln w="19050">
            <a:solidFill>
              <a:srgbClr val="26313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06324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F2F7"/>
                </a:solidFill>
              </a:rPr>
              <a:t>QNN-first provider selection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828800" y="4160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5"/>
                </a:solidFill>
              </a:rPr>
              <a:t>The runtime asks ONNX Runtime whether QNN is available. On Snapdragon, QNN can target the HTP/NPU backend; otherwise the CPU execution provider keeps development portable.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72F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SNAPDRAGON FIT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DF2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for Snapdragon NPU execution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uses an ONNX + QNN architecture instead of hard-wiring the experience to one host runtime.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2F1C8"/>
                </a:solidFill>
              </a:rPr>
              <a:t>Implementation choices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4434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EDF2F7"/>
                </a:solidFill>
              </a:rPr>
              <a:t>ONNX format for portable model deployment.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EDF2F7"/>
                </a:solidFill>
              </a:rPr>
              <a:t>ONNX Runtime QNN Execution Provider selected first when available.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EDF2F7"/>
                </a:solidFill>
              </a:rPr>
              <a:t>HTP backend used as the Snapdragon NPU-oriented target.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EDF2F7"/>
                </a:solidFill>
              </a:rPr>
              <a:t>CPU fallback for development and compatibility.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EDF2F7"/>
                </a:solidFill>
              </a:rPr>
              <a:t>Runtime provider and latency surfaced in the interface.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828800"/>
            <a:ext cx="4800600" cy="1508760"/>
          </a:xfrm>
          <a:prstGeom prst="roundRect">
            <a:avLst>
              <a:gd name="adj" fmla="val 4848"/>
            </a:avLst>
          </a:prstGeom>
          <a:solidFill>
            <a:srgbClr val="0E171D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084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F1C8"/>
                </a:solidFill>
              </a:rPr>
              <a:t>AI Hub reference profile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242316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</a:rPr>
              <a:t>YOLOv5 • Snapdragon X Elite CRD • Windows 11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2724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F2F7"/>
                </a:solidFill>
              </a:rPr>
              <a:t>14.8 ms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06640" y="27980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</a:rPr>
              <a:t>estimated inference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0" y="312724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F2F7"/>
                </a:solidFill>
              </a:rPr>
              <a:t>47 MB peak memory  •  NPU compute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3584448"/>
            <a:ext cx="4800600" cy="1856232"/>
          </a:xfrm>
          <a:prstGeom prst="roundRect">
            <a:avLst>
              <a:gd name="adj" fmla="val 3941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2F1C8"/>
                </a:solidFill>
              </a:rPr>
              <a:t>Claim boundary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22452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</a:rPr>
              <a:t>These numbers are Qualcomm AI Hub reference measurements for the published profile, not measurements claimed for this prototype.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72F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PROTOTYPE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DF2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focused MVP built for a live demo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experience is intentionally small: one image, one policy, one redacted result, and visible runtime telemetry.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744200" cy="3566160"/>
          </a:xfrm>
          <a:prstGeom prst="roundRect">
            <a:avLst>
              <a:gd name="adj" fmla="val 2051"/>
            </a:avLst>
          </a:prstGeom>
          <a:solidFill>
            <a:srgbClr val="0F151B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F2F7"/>
                </a:solidFill>
              </a:rPr>
              <a:t>SnapShield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12680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2F1C8"/>
                </a:solidFill>
              </a:rPr>
              <a:t>QNN ready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2542032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16202A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6609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F2F7"/>
                </a:solidFill>
              </a:rPr>
              <a:t>Select image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542032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C1218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6609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F2F7"/>
                </a:solidFill>
              </a:rPr>
              <a:t>People + faces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0" y="2542032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72F1C8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26609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00E"/>
                </a:solidFill>
              </a:rPr>
              <a:t>Analyze &amp; redact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4389120" cy="1691640"/>
          </a:xfrm>
          <a:prstGeom prst="roundRect">
            <a:avLst>
              <a:gd name="adj" fmla="val 4324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246120"/>
            <a:ext cx="4389120" cy="1691640"/>
          </a:xfrm>
          <a:prstGeom prst="roundRect">
            <a:avLst>
              <a:gd name="adj" fmla="val 4324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4290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A7B5"/>
                </a:solidFill>
              </a:rPr>
              <a:t>ORIGINAL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9280" y="34290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A7B5"/>
                </a:solidFill>
              </a:rPr>
              <a:t>REDACTED OUTPUT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43000" y="3794760"/>
            <a:ext cx="3931920" cy="868680"/>
          </a:xfrm>
          <a:prstGeom prst="rect">
            <a:avLst/>
          </a:prstGeom>
          <a:solidFill>
            <a:srgbClr val="20323A"/>
          </a:solidFill>
          <a:ln w="12700">
            <a:solidFill>
              <a:srgbClr val="2944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3794760"/>
            <a:ext cx="3931920" cy="868680"/>
          </a:xfrm>
          <a:prstGeom prst="rect">
            <a:avLst/>
          </a:prstGeom>
          <a:solidFill>
            <a:srgbClr val="20323A"/>
          </a:solidFill>
          <a:ln w="12700">
            <a:solidFill>
              <a:srgbClr val="2944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4005072"/>
            <a:ext cx="594360" cy="292608"/>
          </a:xfrm>
          <a:prstGeom prst="rect">
            <a:avLst/>
          </a:prstGeom>
          <a:solidFill>
            <a:srgbClr val="55616A">
              <a:alpha val="70000"/>
            </a:srgbClr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480" y="4005072"/>
            <a:ext cx="594360" cy="292608"/>
          </a:xfrm>
          <a:prstGeom prst="rect">
            <a:avLst/>
          </a:prstGeom>
          <a:solidFill>
            <a:srgbClr val="55616A">
              <a:alpha val="70000"/>
            </a:srgbClr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4005072"/>
            <a:ext cx="594360" cy="292608"/>
          </a:xfrm>
          <a:prstGeom prst="rect">
            <a:avLst/>
          </a:prstGeom>
          <a:solidFill>
            <a:srgbClr val="55616A">
              <a:alpha val="70000"/>
            </a:srgbClr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1663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F2F7"/>
                </a:solidFill>
              </a:rPr>
              <a:t>Detections 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51663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F2F7"/>
                </a:solidFill>
              </a:rPr>
              <a:t>Faces 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60520" y="5166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F2F7"/>
                </a:solidFill>
              </a:rPr>
              <a:t>Latency  18.4 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69680" y="51389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2F1C8"/>
                </a:solidFill>
              </a:rPr>
              <a:t>Download redacted image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5742432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7B5"/>
                </a:solidFill>
              </a:rPr>
              <a:t>UI mockup for pitch presentation - final device benchmark should be captured on the target Snapdragon PC.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72F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NEXT STEP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DF2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prototype to Windows product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MVP establishes the architecture; the next iteration closes the hardware-validation and packaging loop.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01568" cy="3291840"/>
          </a:xfrm>
          <a:prstGeom prst="roundRect">
            <a:avLst>
              <a:gd name="adj" fmla="val 2222"/>
            </a:avLst>
          </a:prstGeom>
          <a:solidFill>
            <a:srgbClr val="0E171D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2F1C8"/>
                </a:solidFill>
              </a:rPr>
              <a:t>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6517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DF2F7"/>
                </a:solidFill>
              </a:rPr>
              <a:t>Local image redaction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DF2F7"/>
                </a:solidFill>
              </a:rPr>
              <a:t>QNN-first runtime path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DF2F7"/>
                </a:solidFill>
              </a:rPr>
              <a:t>Runtime telemetry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DF2F7"/>
                </a:solidFill>
              </a:rPr>
              <a:t>Side-by-side verification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1920240"/>
            <a:ext cx="3401568" cy="3291840"/>
          </a:xfrm>
          <a:prstGeom prst="roundRect">
            <a:avLst>
              <a:gd name="adj" fmla="val 2222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7"/>
                </a:solidFill>
              </a:rPr>
              <a:t>NEXT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35424" y="26517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DF2F7"/>
                </a:solidFill>
              </a:rPr>
              <a:t>Benchmark on physical Snapdragon PC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DF2F7"/>
                </a:solidFill>
              </a:rPr>
              <a:t>Add QR / OCR document redaction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DF2F7"/>
                </a:solidFill>
              </a:rPr>
              <a:t>Package as Windows executable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DF2F7"/>
                </a:solidFill>
              </a:rPr>
              <a:t>Add audit log / batch mode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18704" y="1920240"/>
            <a:ext cx="3401568" cy="3291840"/>
          </a:xfrm>
          <a:prstGeom prst="roundRect">
            <a:avLst>
              <a:gd name="adj" fmla="val 2222"/>
            </a:avLst>
          </a:prstGeom>
          <a:solidFill>
            <a:srgbClr val="111821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47304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2F7"/>
                </a:solidFill>
              </a:rPr>
              <a:t>VALUE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74736" y="26517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DF2F7"/>
                </a:solidFill>
              </a:rPr>
              <a:t>Privacy before sharing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DF2F7"/>
                </a:solidFill>
              </a:rPr>
              <a:t>No cloud upload in core flow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DF2F7"/>
                </a:solidFill>
              </a:rPr>
              <a:t>Hardware-aware deployment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EDF2F7"/>
                </a:solidFill>
              </a:rPr>
              <a:t>Simple, inspectable UX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63040" y="548640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0E171D"/>
          </a:solidFill>
          <a:ln w="12700">
            <a:solidFill>
              <a:srgbClr val="2631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564184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7"/>
                </a:solidFill>
              </a:rPr>
              <a:t>Core product promise: make sensitive pixels safer before they are shared.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72F1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DF2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references used for the pitch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sources for the Snapdragon deployment story and current challenge requirements.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F2F7"/>
                </a:solidFill>
              </a:rPr>
              <a:t>Qualcomm Snapdragon AI Lab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94760" y="18288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</a:rPr>
              <a:t>https://www.qualcomm.com/snapdragon/ai-lab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F2F7"/>
                </a:solidFill>
              </a:rPr>
              <a:t>Qualcomm AI Hub YOLOv5 profile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94760" y="2542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</a:rPr>
              <a:t>https://aihub.qualcomm.com/jobs/jpxl31x1p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2552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F2F7"/>
                </a:solidFill>
              </a:rPr>
              <a:t>ONNX Runtime QNN Execution Provider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94760" y="325526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</a:rPr>
              <a:t>https://onnxruntime.ai/docs/execution-providers/QNN-ExecutionProvider.html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968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F2F7"/>
                </a:solidFill>
              </a:rPr>
              <a:t>Challenge listing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94760" y="396849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</a:rPr>
              <a:t>https://unstop.com/competitions/1748893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6817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F2F7"/>
                </a:solidFill>
              </a:rPr>
              <a:t>Ultralytics YOLOv5 / ONNX documentation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468172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</a:rPr>
              <a:t>https://github.com/ultralytics/yolov5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623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7B5"/>
                </a:solidFill>
              </a:rPr>
              <a:t>Note: AI Hub performance figures are cited as reference data. No device-specific benchmark is represented as measured by SnapShield AI until validated on the target Snapdragon hardware.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7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Vinay Kumar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SnapShield AI</dc:title>
  <dc:subject>SnapShield AI - Snapdragon AI Lab Build &amp; Present Challenge</dc:subject>
  <dc:creator>Vinay Kumar</dc:creator>
  <cp:lastModifiedBy>Vinay Kumar</cp:lastModifiedBy>
  <cp:revision>1</cp:revision>
  <dcterms:created xsi:type="dcterms:W3CDTF">2026-09-30T10:22:01Z</dcterms:created>
  <dcterms:modified xsi:type="dcterms:W3CDTF">2026-09-30T10:22:01Z</dcterms:modified>
</cp:coreProperties>
</file>